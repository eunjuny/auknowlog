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38e1e0039a4a2b" /><Relationship Type="http://schemas.openxmlformats.org/officeDocument/2006/relationships/extended-properties" Target="/docProps/app.xml" Id="Rb691bd69bd414aad" /><Relationship Type="http://schemas.openxmlformats.org/officeDocument/2006/relationships/officeDocument" Target="/ppt/presentation.xml" Id="R1d68df68287b4e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47a0302d74131"/>
  </p:sldMasterIdLst>
  <p:notesMasterIdLst>
    <p:notesMasterId xmlns:r="http://schemas.openxmlformats.org/officeDocument/2006/relationships" r:id="R9a550e19cf244ba8"/>
  </p:notesMasterIdLst>
  <p:sldIdLst>
    <p:sldId xmlns:r="http://schemas.openxmlformats.org/officeDocument/2006/relationships" id="256" r:id="Raa3678dd98b8494d"/>
    <p:sldId xmlns:r="http://schemas.openxmlformats.org/officeDocument/2006/relationships" id="257" r:id="R655b3f12ab5d4cd2"/>
    <p:sldId xmlns:r="http://schemas.openxmlformats.org/officeDocument/2006/relationships" id="258" r:id="R6fafa297b5984d45"/>
    <p:sldId xmlns:r="http://schemas.openxmlformats.org/officeDocument/2006/relationships" id="259" r:id="Rca79e8d294e34cf5"/>
    <p:sldId xmlns:r="http://schemas.openxmlformats.org/officeDocument/2006/relationships" id="260" r:id="R79abe3ee98b54b2d"/>
    <p:sldId xmlns:r="http://schemas.openxmlformats.org/officeDocument/2006/relationships" id="261" r:id="R37f975f9da7d4c1f"/>
    <p:sldId xmlns:r="http://schemas.openxmlformats.org/officeDocument/2006/relationships" id="262" r:id="R79a1028bded543b7"/>
    <p:sldId xmlns:r="http://schemas.openxmlformats.org/officeDocument/2006/relationships" id="263" r:id="R0066dec42d0f46b6"/>
    <p:sldId xmlns:r="http://schemas.openxmlformats.org/officeDocument/2006/relationships" id="264" r:id="Rf6b86b830f674907"/>
    <p:sldId xmlns:r="http://schemas.openxmlformats.org/officeDocument/2006/relationships" id="265" r:id="R77c17ab5dc9e4890"/>
    <p:sldId xmlns:r="http://schemas.openxmlformats.org/officeDocument/2006/relationships" id="266" r:id="Rf8932ff5940d4df8"/>
    <p:sldId xmlns:r="http://schemas.openxmlformats.org/officeDocument/2006/relationships" id="267" r:id="R79e0d2ba37054c33"/>
    <p:sldId xmlns:r="http://schemas.openxmlformats.org/officeDocument/2006/relationships" id="268" r:id="R4d64ad210d0c402f"/>
    <p:sldId xmlns:r="http://schemas.openxmlformats.org/officeDocument/2006/relationships" id="269" r:id="R0ea5ca76511541b6"/>
    <p:sldId xmlns:r="http://schemas.openxmlformats.org/officeDocument/2006/relationships" id="270" r:id="Rd0b28fa080e94a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f273e6efcf4391" /><Relationship Type="http://schemas.openxmlformats.org/officeDocument/2006/relationships/slideMaster" Target="/ppt/slideMasters/slideMaster1.xml" Id="R61f47a0302d74131" /><Relationship Type="http://schemas.openxmlformats.org/officeDocument/2006/relationships/notesMaster" Target="/ppt/notesMasters/notesMaster1.xml" Id="R9a550e19cf244ba8" /><Relationship Type="http://schemas.openxmlformats.org/officeDocument/2006/relationships/presProps" Target="/ppt/presProps.xml" Id="R599d3de0a4804673" /><Relationship Type="http://schemas.openxmlformats.org/officeDocument/2006/relationships/tableStyles" Target="/ppt/tableStyles.xml" Id="R87cbba8d4e994a2b" /><Relationship Type="http://schemas.openxmlformats.org/officeDocument/2006/relationships/slide" Target="/ppt/slides/slide1.xml" Id="Raa3678dd98b8494d" /><Relationship Type="http://schemas.openxmlformats.org/officeDocument/2006/relationships/slide" Target="/ppt/slides/slide2.xml" Id="R655b3f12ab5d4cd2" /><Relationship Type="http://schemas.openxmlformats.org/officeDocument/2006/relationships/slide" Target="/ppt/slides/slide3.xml" Id="R6fafa297b5984d45" /><Relationship Type="http://schemas.openxmlformats.org/officeDocument/2006/relationships/slide" Target="/ppt/slides/slide4.xml" Id="Rca79e8d294e34cf5" /><Relationship Type="http://schemas.openxmlformats.org/officeDocument/2006/relationships/slide" Target="/ppt/slides/slide5.xml" Id="R79abe3ee98b54b2d" /><Relationship Type="http://schemas.openxmlformats.org/officeDocument/2006/relationships/slide" Target="/ppt/slides/slide6.xml" Id="R37f975f9da7d4c1f" /><Relationship Type="http://schemas.openxmlformats.org/officeDocument/2006/relationships/slide" Target="/ppt/slides/slide7.xml" Id="R79a1028bded543b7" /><Relationship Type="http://schemas.openxmlformats.org/officeDocument/2006/relationships/slide" Target="/ppt/slides/slide8.xml" Id="R0066dec42d0f46b6" /><Relationship Type="http://schemas.openxmlformats.org/officeDocument/2006/relationships/slide" Target="/ppt/slides/slide9.xml" Id="Rf6b86b830f674907" /><Relationship Type="http://schemas.openxmlformats.org/officeDocument/2006/relationships/slide" Target="/ppt/slides/slide10.xml" Id="R77c17ab5dc9e4890" /><Relationship Type="http://schemas.openxmlformats.org/officeDocument/2006/relationships/slide" Target="/ppt/slides/slide11.xml" Id="Rf8932ff5940d4df8" /><Relationship Type="http://schemas.openxmlformats.org/officeDocument/2006/relationships/slide" Target="/ppt/slides/slide12.xml" Id="R79e0d2ba37054c33" /><Relationship Type="http://schemas.openxmlformats.org/officeDocument/2006/relationships/slide" Target="/ppt/slides/slide13.xml" Id="R4d64ad210d0c402f" /><Relationship Type="http://schemas.openxmlformats.org/officeDocument/2006/relationships/slide" Target="/ppt/slides/slide14.xml" Id="R0ea5ca76511541b6" /><Relationship Type="http://schemas.openxmlformats.org/officeDocument/2006/relationships/slide" Target="/ppt/slides/slide15.xml" Id="Rd0b28fa080e94a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0d4b0f1b5548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1f23287c5e484e" /><Relationship Type="http://schemas.openxmlformats.org/officeDocument/2006/relationships/notesMaster" Target="/ppt/notesMasters/notesMaster1.xml" Id="Rac484472d2324f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9863cc60824e20" /><Relationship Type="http://schemas.openxmlformats.org/officeDocument/2006/relationships/notesMaster" Target="/ppt/notesMasters/notesMaster1.xml" Id="R8f2846b030884a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6c6047d186409c" /><Relationship Type="http://schemas.openxmlformats.org/officeDocument/2006/relationships/notesMaster" Target="/ppt/notesMasters/notesMaster1.xml" Id="R8c7e1503236b4d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ba1e6086e04633" /><Relationship Type="http://schemas.openxmlformats.org/officeDocument/2006/relationships/notesMaster" Target="/ppt/notesMasters/notesMaster1.xml" Id="Raab1c606155c4c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c88322293c4ffe" /><Relationship Type="http://schemas.openxmlformats.org/officeDocument/2006/relationships/notesMaster" Target="/ppt/notesMasters/notesMaster1.xml" Id="Rcca9240cc80542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f7c97bd4d0401a" /><Relationship Type="http://schemas.openxmlformats.org/officeDocument/2006/relationships/notesMaster" Target="/ppt/notesMasters/notesMaster1.xml" Id="R851be478bf6545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f36a9a6fec472d" /><Relationship Type="http://schemas.openxmlformats.org/officeDocument/2006/relationships/notesMaster" Target="/ppt/notesMasters/notesMaster1.xml" Id="R38820c16ddff45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11cafafc34455f" /><Relationship Type="http://schemas.openxmlformats.org/officeDocument/2006/relationships/notesMaster" Target="/ppt/notesMasters/notesMaster1.xml" Id="Rc697b710d08943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d735eebc8e4bf6" /><Relationship Type="http://schemas.openxmlformats.org/officeDocument/2006/relationships/notesMaster" Target="/ppt/notesMasters/notesMaster1.xml" Id="R1a522880e95a47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0bb3504a2a4435" /><Relationship Type="http://schemas.openxmlformats.org/officeDocument/2006/relationships/notesMaster" Target="/ppt/notesMasters/notesMaster1.xml" Id="R3a82f274b4b248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63f518bca646e6" /><Relationship Type="http://schemas.openxmlformats.org/officeDocument/2006/relationships/notesMaster" Target="/ppt/notesMasters/notesMaster1.xml" Id="Reee39545172344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5b4a8ef5d74da0" /><Relationship Type="http://schemas.openxmlformats.org/officeDocument/2006/relationships/notesMaster" Target="/ppt/notesMasters/notesMaster1.xml" Id="R3e5e97b284af46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66bc1515ed4e36" /><Relationship Type="http://schemas.openxmlformats.org/officeDocument/2006/relationships/notesMaster" Target="/ppt/notesMasters/notesMaster1.xml" Id="R8be7353eda1247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b204b1ad264d03" /><Relationship Type="http://schemas.openxmlformats.org/officeDocument/2006/relationships/notesMaster" Target="/ppt/notesMasters/notesMaster1.xml" Id="R69eb24e4dc2243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5edf4acf0b405c" /><Relationship Type="http://schemas.openxmlformats.org/officeDocument/2006/relationships/notesMaster" Target="/ppt/notesMasters/notesMaster1.xml" Id="Rf005abe5ba00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구현: docs/PROJECT_GUIDE.md</a:t>
            </a:r>
          </a:p>
          <a:p xmlns:a="http://schemas.openxmlformats.org/drawingml/2006/main">
            <a:r>
              <a:t>포트폴리오 구성 참고: https://github.com/jojoldu/resume</a:t>
            </a:r>
          </a:p>
          <a:p xmlns:a="http://schemas.openxmlformats.org/drawingml/2006/main">
            <a:r>
              <a:t>포트폴리오 구성 참고: https://zhenisduissekov.github.io/</a:t>
            </a:r>
          </a:p>
          <a:p xmlns:a="http://schemas.openxmlformats.org/drawingml/2006/main">
            <a:r>
              <a:t>포트폴리오 구성 참고: https://saviocodes.github.io/saviofilho.dev/</a:t>
            </a:r>
          </a:p>
          <a:p xmlns:a="http://schemas.openxmlformats.org/drawingml/2006/main">
            <a:r>
              <a:t>포트폴리오 구성 참고: https://rahulkbharti.github.io/rahulkbharti/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git: 3add85f feat: Initial project setup for backend and frontend</a:t>
            </a:r>
          </a:p>
          <a:p xmlns:a="http://schemas.openxmlformats.org/drawingml/2006/main">
            <a:r>
              <a:t>git: eeb2a99 Gemini를 OpenAI GPT로 전환하고 퀴즈 생성 안정성 강화</a:t>
            </a:r>
          </a:p>
          <a:p xmlns:a="http://schemas.openxmlformats.org/drawingml/2006/main">
            <a:r>
              <a:t>git: ad7f2c1 학습 이력·복습 기능을 추가하고 pgvector 기반 중복 방지로 전환</a:t>
            </a:r>
          </a:p>
          <a:p xmlns:a="http://schemas.openxmlformats.org/drawingml/2006/main">
            <a:r>
              <a:t>docs/PROJECT_GUIDE.md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frontend/src/App.vue</a:t>
            </a:r>
          </a:p>
          <a:p xmlns:a="http://schemas.openxmlformats.org/drawingml/2006/main">
            <a:r>
              <a:t>docs/PROJECT_GUIDE.md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docker-compose.yml</a:t>
            </a:r>
          </a:p>
          <a:p xmlns:a="http://schemas.openxmlformats.org/drawingml/2006/main">
            <a:r>
              <a:t>frontend/vite.config.js</a:t>
            </a:r>
          </a:p>
          <a:p xmlns:a="http://schemas.openxmlformats.org/drawingml/2006/main">
            <a:r>
              <a:t>docs/PROMETHEUS_OBSERVABILITY.md</a:t>
            </a:r>
          </a:p>
          <a:p xmlns:a="http://schemas.openxmlformats.org/drawingml/2006/main">
            <a:r>
              <a:t>docs/PROJECT_GUIDE.md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backend/src/main/java/com/auknowlog/backend/quiz/dto/QuizViewResponse.java</a:t>
            </a:r>
          </a:p>
          <a:p xmlns:a="http://schemas.openxmlformats.org/drawingml/2006/main">
            <a:r>
              <a:t>backend/src/main/java/com/auknowlog/backend/quiz/dto/QuizQuestionResponse.java</a:t>
            </a:r>
          </a:p>
          <a:p xmlns:a="http://schemas.openxmlformats.org/drawingml/2006/main">
            <a:r>
              <a:t>backend/src/main/java/com/auknowlog/backend/learning/service/LearningService.java</a:t>
            </a:r>
          </a:p>
          <a:p xmlns:a="http://schemas.openxmlformats.org/drawingml/2006/main">
            <a:r>
              <a:t>backend/src/test/java/com/auknowlog/backend/learning/LearningWorkflowIntegrationTest.java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backend/src/main/java/com/auknowlog/backend/question/service/QuestionHistoryService.java</a:t>
            </a:r>
          </a:p>
          <a:p xmlns:a="http://schemas.openxmlformats.org/drawingml/2006/main">
            <a:r>
              <a:t>backend/src/main/java/com/auknowlog/backend/embedding/service/SemanticDuplicateService.java</a:t>
            </a:r>
          </a:p>
          <a:p xmlns:a="http://schemas.openxmlformats.org/drawingml/2006/main">
            <a:r>
              <a:t>backend/src/main/resources/db/migration/V3__add_pgvector_semantic_index.sql</a:t>
            </a:r>
          </a:p>
          <a:p xmlns:a="http://schemas.openxmlformats.org/drawingml/2006/main">
            <a:r>
              <a:t>docs/PGVECTOR_INTEGRATION_TEST.md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backend/src/integrationTest/java/com/auknowlog/backend/embedding/PgvectorIntegrationTest.java</a:t>
            </a:r>
          </a:p>
          <a:p xmlns:a="http://schemas.openxmlformats.org/drawingml/2006/main">
            <a:r>
              <a:t>backend/src/test/java/com/auknowlog/backend/quiz/service/QuizGenerationServiceTest.java</a:t>
            </a:r>
          </a:p>
          <a:p xmlns:a="http://schemas.openxmlformats.org/drawingml/2006/main">
            <a:r>
              <a:t>backend/build.gradle</a:t>
            </a:r>
          </a:p>
          <a:p xmlns:a="http://schemas.openxmlformats.org/drawingml/2006/main">
            <a:r>
              <a:t>.github/workflows/backend-integration.yml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backend/src/main/java/com/auknowlog/backend/quiz/service/QuizGenerationService.java</a:t>
            </a:r>
          </a:p>
          <a:p xmlns:a="http://schemas.openxmlformats.org/drawingml/2006/main">
            <a:r>
              <a:t>backend/src/test/java/com/auknowlog/backend/quiz/service/QuizGenerationServiceTest.java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docs/ROADMAP_JSON_FORMAT.md</a:t>
            </a:r>
          </a:p>
          <a:p xmlns:a="http://schemas.openxmlformats.org/drawingml/2006/main">
            <a:r>
              <a:t>backend/src/main/java/com/auknowlog/backend/roadmap/service/OpenAiRoadmapService.java</a:t>
            </a:r>
          </a:p>
          <a:p xmlns:a="http://schemas.openxmlformats.org/drawingml/2006/main">
            <a:r>
              <a:t>backend/src/main/java/com/auknowlog/backend/roadmap/service/RoadmapQuizPlanningService.java</a:t>
            </a:r>
          </a:p>
          <a:p xmlns:a="http://schemas.openxmlformats.org/drawingml/2006/main">
            <a:r>
              <a:t>backend/src/main/java/com/auknowlog/backend/quiz/service/OpenAiQuizService.java</a:t>
            </a:r>
          </a:p>
          <a:p xmlns:a="http://schemas.openxmlformats.org/drawingml/2006/main">
            <a:r>
              <a:t>backend/src/main/resources/db/migration/V13__add_roadmap_learning_objectives.sql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backend/src/main/java/com/auknowlog/backend/learning/entity/ReviewSchedule.java</a:t>
            </a:r>
          </a:p>
          <a:p xmlns:a="http://schemas.openxmlformats.org/drawingml/2006/main">
            <a:r>
              <a:t>backend/src/main/java/com/auknowlog/backend/learning/service/ReviewService.java</a:t>
            </a:r>
          </a:p>
          <a:p xmlns:a="http://schemas.openxmlformats.org/drawingml/2006/main">
            <a:r>
              <a:t>backend/src/main/resources/db/migration/V9__complete_review_workflow.sql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backend/src/main/java/com/auknowlog/backend/ai/service/AiGenerationLedgerService.java</a:t>
            </a:r>
          </a:p>
          <a:p xmlns:a="http://schemas.openxmlformats.org/drawingml/2006/main">
            <a:r>
              <a:t>backend/src/main/java/com/auknowlog/backend/dashboard/service/DashboardService.java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backend/src/main/java/com/auknowlog/backend/common/observability/QuizGenerationMetrics.java</a:t>
            </a:r>
          </a:p>
          <a:p xmlns:a="http://schemas.openxmlformats.org/drawingml/2006/main">
            <a:r>
              <a:t>backend/src/main/java/com/auknowlog/backend/common/observability/AiGenerationMetrics.java</a:t>
            </a:r>
          </a:p>
          <a:p xmlns:a="http://schemas.openxmlformats.org/drawingml/2006/main">
            <a:r>
              <a:t>backend/src/test/java/com/auknowlog/backend/common/observability/PrometheusExportContractTest.java</a:t>
            </a:r>
          </a:p>
          <a:p xmlns:a="http://schemas.openxmlformats.org/drawingml/2006/main">
            <a:r>
              <a:t>scripts/verify-prometheus.sh</a:t>
            </a:r>
          </a:p>
          <a:p xmlns:a="http://schemas.openxmlformats.org/drawingml/2006/main">
            <a:r>
              <a:t>docs/PROMETHEUS_OBSERVABILITY.md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backend/src/main/resources/db/migration/V2__create_learning_domain.sql</a:t>
            </a:r>
          </a:p>
          <a:p xmlns:a="http://schemas.openxmlformats.org/drawingml/2006/main">
            <a:r>
              <a:t>backend/src/main/resources/db/migration/V3__add_pgvector_semantic_index.sql</a:t>
            </a:r>
          </a:p>
          <a:p xmlns:a="http://schemas.openxmlformats.org/drawingml/2006/main">
            <a:r>
              <a:t>backend/src/main/resources/db/migration/V7__add_stage_based_roadmap_definition.sql</a:t>
            </a:r>
          </a:p>
          <a:p xmlns:a="http://schemas.openxmlformats.org/drawingml/2006/main">
            <a:r>
              <a:t>backend/src/main/resources/db/migration/V9__complete_review_workflow.sql</a:t>
            </a:r>
          </a:p>
          <a:p xmlns:a="http://schemas.openxmlformats.org/drawingml/2006/main">
            <a:r>
              <a:t>backend/src/main/resources/db/migration/V13__add_roadmap_learning_objectives.sql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docs/STACK_TRANSITION.md</a:t>
            </a:r>
          </a:p>
          <a:p xmlns:a="http://schemas.openxmlformats.org/drawingml/2006/main">
            <a:r>
              <a:t>docs/TECHNOLOGY_DECISIONS.md</a:t>
            </a:r>
          </a:p>
          <a:p xmlns:a="http://schemas.openxmlformats.org/drawingml/2006/main">
            <a:r>
              <a:t>backend/build.gradle</a:t>
            </a:r>
          </a:p>
          <a:p xmlns:a="http://schemas.openxmlformats.org/drawingml/2006/main">
            <a:r>
              <a:t>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</a:t>
            </a:r>
          </a:p>
          <a:p xmlns:a="http://schemas.openxmlformats.org/drawingml/2006/main">
            <a:r>
              <a:t>backend/build/test-results/test</a:t>
            </a:r>
          </a:p>
          <a:p xmlns:a="http://schemas.openxmlformats.org/drawingml/2006/main">
            <a:r>
              <a:t>backend/build/test-results/integrationTest</a:t>
            </a:r>
          </a:p>
          <a:p xmlns:a="http://schemas.openxmlformats.org/drawingml/2006/main">
            <a:r>
              <a:t>backend/src/test/java/com/auknowlog/backend/learning/RoadmapObjectiveWorkflowIntegrationTest.java</a:t>
            </a:r>
          </a:p>
          <a:p xmlns:a="http://schemas.openxmlformats.org/drawingml/2006/main">
            <a:r>
              <a:t>backend/src/test/java/com/auknowlog/backend/roadmap/service/RoadmapQuizPlanningServiceTest.java</a:t>
            </a:r>
          </a:p>
          <a:p xmlns:a="http://schemas.openxmlformats.org/drawingml/2006/main">
            <a:r>
              <a:t>docs/PGVECTOR_INTEGRATION_TEST.md</a:t>
            </a:r>
          </a:p>
          <a:p xmlns:a="http://schemas.openxmlformats.org/drawingml/2006/main">
            <a:r>
              <a:t>docs/IMPROVEMENT_ROADMAP.md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84dcb7333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33edf92f6b401b" /><Relationship Type="http://schemas.openxmlformats.org/officeDocument/2006/relationships/slideLayout" Target="/ppt/slideLayouts/slideLayout1.xml" Id="R78473357800245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473357800245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11e3d43d44dc6" /><Relationship Type="http://schemas.openxmlformats.org/officeDocument/2006/relationships/image" Target="/ppt/media/image.jpeg" Id="R4d3a9501d11747e0" /><Relationship Type="http://schemas.openxmlformats.org/officeDocument/2006/relationships/notesSlide" Target="/ppt/notesSlides/notesSlide1.xml" Id="R7a8340fb55594f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f2d3dc1ee4c99" /><Relationship Type="http://schemas.openxmlformats.org/officeDocument/2006/relationships/notesSlide" Target="/ppt/notesSlides/notesSlide2.xml" Id="Ra3b3ff6fb49745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54002a5ec497c" /><Relationship Type="http://schemas.openxmlformats.org/officeDocument/2006/relationships/image" Target="/ppt/media/image2.jpeg" Id="R0338ecfe27994c2c" /><Relationship Type="http://schemas.openxmlformats.org/officeDocument/2006/relationships/notesSlide" Target="/ppt/notesSlides/notesSlide3.xml" Id="R3625c47ac76243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ee2df6d2446f1" /><Relationship Type="http://schemas.openxmlformats.org/officeDocument/2006/relationships/notesSlide" Target="/ppt/notesSlides/notesSlide4.xml" Id="R0b4df9c6578343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78f11d8e848dc" /><Relationship Type="http://schemas.openxmlformats.org/officeDocument/2006/relationships/notesSlide" Target="/ppt/notesSlides/notesSlide5.xml" Id="Rae8f2f5fa71b4f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06f5880894879" /><Relationship Type="http://schemas.openxmlformats.org/officeDocument/2006/relationships/notesSlide" Target="/ppt/notesSlides/notesSlide6.xml" Id="R2254b753cddf4e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8204047a84758" /><Relationship Type="http://schemas.openxmlformats.org/officeDocument/2006/relationships/notesSlide" Target="/ppt/notesSlides/notesSlide7.xml" Id="R2c1f68a635824c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95d2e8a30429f" /><Relationship Type="http://schemas.openxmlformats.org/officeDocument/2006/relationships/notesSlide" Target="/ppt/notesSlides/notesSlide8.xml" Id="Rf5b4c23b5c764e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7c93c3be4359" /><Relationship Type="http://schemas.openxmlformats.org/officeDocument/2006/relationships/image" Target="/ppt/media/image3.jpeg" Id="R6505d53fb6f54d91" /><Relationship Type="http://schemas.openxmlformats.org/officeDocument/2006/relationships/notesSlide" Target="/ppt/notesSlides/notesSlide9.xml" Id="Rcade957a015e49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93d2a37114649" /><Relationship Type="http://schemas.openxmlformats.org/officeDocument/2006/relationships/image" Target="/ppt/media/image4.jpeg" Id="Rbd0a23372d8d426b" /><Relationship Type="http://schemas.openxmlformats.org/officeDocument/2006/relationships/notesSlide" Target="/ppt/notesSlides/notesSlide10.xml" Id="R8f16e5c38d8145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c1b44ebb24d66" /><Relationship Type="http://schemas.openxmlformats.org/officeDocument/2006/relationships/image" Target="/ppt/media/image5.jpeg" Id="Ra1ffb55f2bce40a8" /><Relationship Type="http://schemas.openxmlformats.org/officeDocument/2006/relationships/notesSlide" Target="/ppt/notesSlides/notesSlide11.xml" Id="R6a32e8c8be1146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f61f9ed7b4ea0" /><Relationship Type="http://schemas.openxmlformats.org/officeDocument/2006/relationships/image" Target="/ppt/media/image.png" Id="R257e3d3eefce46d0" /><Relationship Type="http://schemas.openxmlformats.org/officeDocument/2006/relationships/notesSlide" Target="/ppt/notesSlides/notesSlide12.xml" Id="Re040971883c240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f7729f7f34950" /><Relationship Type="http://schemas.openxmlformats.org/officeDocument/2006/relationships/notesSlide" Target="/ppt/notesSlides/notesSlide13.xml" Id="R364c26d1d0fd41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352bf50e14d54" /><Relationship Type="http://schemas.openxmlformats.org/officeDocument/2006/relationships/notesSlide" Target="/ppt/notesSlides/notesSlide14.xml" Id="R77d20832e6764d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0e9b3525a4a41" /><Relationship Type="http://schemas.openxmlformats.org/officeDocument/2006/relationships/notesSlide" Target="/ppt/notesSlides/notesSlide15.xml" Id="R1c4d609b9574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C23E7-C0E7-4B22-ABBA-C4D807B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0614E-B8C6-41E1-B868-087D495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46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93528-F47A-4050-995D-00AE6290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3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기술 공부를 기사·문제·복습까지</a:t>
            </a:r>
          </a:p>
          <a:p xmlns:a="http://schemas.openxmlformats.org/drawingml/2006/main">
            <a:pPr algn="l">
              <a:defRPr sz="23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3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이어가기 위해 만든 개인 학습 도구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09644-CC13-44F7-A9ED-D316B022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651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6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처음에는 주제별 퀴즈를 만드는 작은 프로젝트였습니다.</a:t>
            </a:r>
          </a:p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6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직접 사용하며 핵심 내용 누락, 중복 문제, AI 호출 관측과 데일리 학습 흐름을 서버 정책으로 보완했습니다.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CA8C2-4948-4148-93CC-9480D864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35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Java 21 · Spring Boot · PostgreSQL · pgvector · Vue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72F3A-19B5-495F-BE19-BB601018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개인 프로젝트   2025.08 - 현재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FFF9D-02C4-4CC1-B77D-2848DB7E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47700"/>
            <a:ext cx="2457450" cy="5238750"/>
          </a:xfrm>
          <a:prstGeom xmlns:a="http://schemas.openxmlformats.org/drawingml/2006/main" prst="roundRect">
            <a:avLst>
              <a:gd name="adj" fmla="val 27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a9501d11747e0"/>
          <a:stretch xmlns:a="http://schemas.openxmlformats.org/drawingml/2006/main"/>
        </p:blipFill>
        <p:spPr>
          <a:xfrm xmlns:a="http://schemas.openxmlformats.org/drawingml/2006/main">
            <a:off x="8477250" y="688975"/>
            <a:ext cx="2381250" cy="5156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91115-CF4C-4670-AA21-E9162F8E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53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실제 모바일 화면</a:t>
            </a:r>
          </a:p>
        </p:txBody>
      </p:sp>
    </p:spTree>
    <p:extLst>
      <p:ext uri="{BB962C8B-B14F-4D97-AF65-F5344CB8AC3E}">
        <p14:creationId xmlns:p14="http://schemas.microsoft.com/office/powerpoint/2010/main" val="1880056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5020C-F409-4944-9530-9B73ACE4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처음에는 문제를 만드는 기능 하나뿐이었습니다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48CE2-2B95-4C14-8ED4-0BE0C0B1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직접 써 보면서 학습이 끊기는 지점을 하나씩 고쳤습니다.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1B8E2-0DA5-4FC3-A110-19D1CAC0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7A5EE-7DE6-498A-B24A-FA0D07C7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0A289-C990-4221-A464-458202B5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37AB3-743C-4F24-9DCA-66A72057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2025.08 · 시작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1C6C2-08A9-4541-A1FC-CF5E077A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9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Gemini로 주제별 퀴즈를 만들고</a:t>
            </a:r>
          </a:p>
          <a:p xmlns:a="http://schemas.openxmlformats.org/drawingml/2006/main">
            <a:pPr algn="l">
              <a:defRPr sz="19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9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화면에 보여주는 단일 기능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C872A-6718-4444-96FA-B0683EEF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4762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첫 커밋에는 QuizController, GeminiService와</a:t>
            </a:r>
          </a:p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하나의 Vue 화면만 있었습니다.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0B193-BF0A-4CB1-B92D-5EBF60F4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53100" y="1943100"/>
            <a:ext cx="0" cy="3495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6768E-521A-488F-B052-6630090D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335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사용하면서 발견한 문제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476A2-1BCE-4F8A-895A-2389CA03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145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FBC03-4DFE-4A7C-A947-0F5EF256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7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핵심 내용이 빠질 수 있었습니다.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68350-8ADA-4EC0-804E-5009E048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주제명만 전달하는 방식은 필수 학습 범위를 보장하기 어려웠습니다.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BA0F4-EAA2-4A33-B3A5-A74389CC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13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DDEDE-51B0-4433-A727-F7527962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528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7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비슷한 문제가 반복됐습니다.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3EFAE-29B7-4C7C-AD6B-ABF415D6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문자열 비교만으로 표현이 다른 중복을 찾기 어려웠습니다.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F0775-278B-49DE-A371-21EB26ED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481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7B679-4374-45EB-B252-79715C6A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196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7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비용과 품질 저하 지점이 보이지 않았습니다.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2B28F-4C1E-44A5-ADE7-B2BCF17A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815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호출 결과만으로는 토큰과 중복 제거 과정을 추적할 수 없었습니다.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E1FED-4696-44F5-A963-61304C42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CDC6E-329C-4FD0-A68F-ACB2D43E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기능을 늘릴 때마다 “이 기능이 다음 학습 행동으로 이어지는가”를 기준으로 삼았습니다.</a:t>
            </a:r>
          </a:p>
        </p:txBody>
      </p:sp>
    </p:spTree>
    <p:extLst>
      <p:ext uri="{BB962C8B-B14F-4D97-AF65-F5344CB8AC3E}">
        <p14:creationId xmlns:p14="http://schemas.microsoft.com/office/powerpoint/2010/main" val="1807002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32B5B-6E40-474D-A125-B17163D1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현재 학습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1DA7B-D359-447F-898B-DBD21BF8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자료나 주제로 계획을 세우고, 문제를 푼 뒤 복습과 다음 학습으로 이어집니다.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7A558-F8A0-4EDF-A023-D7509B1D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7C316-59DD-4C04-937E-1CA15942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31EFC-A112-4A52-841B-255242F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8B51B-89A8-4DDD-AE56-5C691E13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28800"/>
            <a:ext cx="5791200" cy="3295650"/>
          </a:xfrm>
          <a:prstGeom xmlns:a="http://schemas.openxmlformats.org/drawingml/2006/main" prst="roundRect">
            <a:avLst>
              <a:gd name="adj" fmla="val 2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8ecfe27994c2c"/>
          <a:stretch xmlns:a="http://schemas.openxmlformats.org/drawingml/2006/main"/>
        </p:blipFill>
        <p:spPr>
          <a:xfrm xmlns:a="http://schemas.openxmlformats.org/drawingml/2006/main">
            <a:off x="5924550" y="1868293"/>
            <a:ext cx="5715000" cy="321666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BD254-3785-4DAC-9E6B-EC4ABF31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911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실제 문제 생성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D04B9-59B9-4780-AD74-D20CFD9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45354-FB58-4A03-80BE-B2BF3455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57375"/>
            <a:ext cx="4305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7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주제·자료 또는 RSS 기사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30E3D-C5FA-4C90-B02A-60B5BC7F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직접 입력한 주제와 자료, 아침 기술 기사를 학습 출발점으로 사용합니다.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61084-0F57-4CE3-9075-1E204190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58F7A-3834-4C46-A0EA-09F024D5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4305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7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로드맵·해설과 문제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5A580-E995-4D0C-AF76-245A00D0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필수 목표와 기사 해설을 바탕으로 중복을 거른 문제를 준비합니다.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4BDD9-4E37-4999-8A29-30943FEF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49461-CF07-48C7-92DC-4530E64C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4305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7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서버 채점과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4A82B-7810-4EB4-9091-BA251F35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서버가 정답을 비교하고 문항별 답안과 복습 일정을 남깁니다.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D21F7-E4F1-4346-8019-C152A39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D022B-3676-4E9B-A2EC-CB3D548A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4305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7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복습과 다음 추천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2731D-930D-4CAC-AB97-F563037F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38725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오답 일정, 목표 진행률과 정답률을 다음 학습에 사용합니다.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2DF77-0810-4DDF-B7E9-8D458E66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0E3E8-8ADA-41C8-B096-5ADFDE43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주요 메뉴: 대시보드, 데일리 학습, 문제 생성, 오늘의 복습, 학습 로드맵, 학습 자료, 풀이 기록, 품질 평가</a:t>
            </a:r>
          </a:p>
        </p:txBody>
      </p:sp>
    </p:spTree>
    <p:extLst>
      <p:ext uri="{BB962C8B-B14F-4D97-AF65-F5344CB8AC3E}">
        <p14:creationId xmlns:p14="http://schemas.microsoft.com/office/powerpoint/2010/main" val="571462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A21C8-EB4D-4190-8810-5C7C58A8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전체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1DC5D-7E9C-48C6-9CF5-7D65E434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서버가 채점과 저장의 기준이 되고, AI와 관측 도구는 필요할 때만 연결합니다.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20B42-6D06-420B-BCE8-F86770A4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EF274-7118-4C89-9569-D6292CBF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FE248-F582-4A08-BC58-67F1699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9140B-7F9B-4698-8B2F-2FD799C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2000250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785E0-C9D6-4CEB-BF26-7DADC27F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Vue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E6850-7EBF-4B21-BA86-634BD326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1695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화면과 사용자 입력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Vite 개발 프록시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ACB8E-AC62-40D4-B316-90446FB5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43175"/>
            <a:ext cx="2476500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8A77D-C2D0-441E-B13C-F02914EF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76525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FFFFFF"/>
                </a:solidFill>
                <a:latin typeface="D2Coding"/>
                <a:ea typeface="D2Coding"/>
                <a:cs typeface="D2Coding"/>
              </a:rPr>
              <a:t>Spring Boot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BEC3D-25C5-4EF9-BDC6-15F60FA6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DED9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DFDED9"/>
                </a:solidFill>
                <a:latin typeface="D2Coding"/>
                <a:ea typeface="D2Coding"/>
                <a:cs typeface="D2Coding"/>
              </a:rPr>
              <a:t>입력 검증, 생성 정책</a:t>
            </a:r>
          </a:p>
          <a:p xmlns:a="http://schemas.openxmlformats.org/drawingml/2006/main">
            <a:pPr algn="l">
              <a:defRPr sz="1275" b="0">
                <a:solidFill>
                  <a:srgbClr val="DFDED9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DFDED9"/>
                </a:solidFill>
                <a:latin typeface="D2Coding"/>
                <a:ea typeface="D2Coding"/>
                <a:cs typeface="D2Coding"/>
              </a:rPr>
              <a:t>서버 채점, 트랜잭션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5B62E-DDA3-4634-8ED3-3458754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43100"/>
            <a:ext cx="36385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B52B1-BF11-45D4-B99B-32261161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3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PostgreSQL + pgvector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B335D-101C-4177-A926-16D5629B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98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학습 데이터, 문제 이력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벡터와 AI 호출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A4E4F-A730-46F0-ADDB-DA7708FB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90925"/>
            <a:ext cx="363855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FE413-6096-4EC5-8D67-F2CCF215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242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OpenAI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DB3B5-3573-4F2C-A44A-84D18DD5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문제·로드맵 초안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문장 임베딩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83892-81DC-499F-BE0E-16F0CED1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10125"/>
            <a:ext cx="3562350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9AC1E-D171-4BED-8165-E2786D4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43475"/>
            <a:ext cx="3257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3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Actuator / Micrometer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80B7B-4B19-4511-9673-14C5720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7685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Prometheus가 운영 지표를 수집합니다.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52700" y="320992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924550" y="2476500"/>
            <a:ext cx="1447800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24550" y="3209925"/>
            <a:ext cx="1447800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686300" y="3876675"/>
            <a:ext cx="542925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421E1-E220-4CD9-A57F-247F7C85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0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/api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A2D54-CEDA-40CF-9736-872C8C7A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31B88-49F3-4669-A61F-04278A9A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909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HTTPS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CEE48-3C47-4295-B461-F8D54E1F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149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선택 설정 시 Langfuse로</a:t>
            </a:r>
          </a:p>
          <a:p xmlns:a="http://schemas.openxmlformats.org/drawingml/2006/main">
            <a:pPr algn="l">
              <a:defRPr sz="13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요청 단위 Trace를 보냅니다.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1388A-61AC-4D33-84F4-7465031F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4E0C0-5413-4A88-8F85-E7007FA6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현재 PostgreSQL과 Prometheus만 Docker Compose로 실행합니다. 프론트엔드와 백엔드는 로컬 프로세스이며 Kubernetes와 Redis는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58652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5480A9-3288-4ECB-ADB6-12FC75EA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정답을 브라우저로 보내지 않도록 API 계약을 바꿨습니다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484B-39C7-4786-B0F8-C5D98992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UI에서 감추는 방식으로는 정답을 보호할 수 없었습니다.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FF432-8718-464E-91D6-CB968BA4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1E007-AAD1-4758-B9FB-6B07826B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CD924-A596-45F3-BAF8-758EADDA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F8C73-2173-4266-891C-B6B6C640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변경 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EEFDF-646A-4158-AAEA-F7818A23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문제 생성 응답에</a:t>
            </a:r>
          </a:p>
          <a:p xmlns:a="http://schemas.openxmlformats.org/drawingml/2006/main">
            <a:pPr algn="l">
              <a:defRPr sz="18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정답과 해설까지 포함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1620F-3DA0-4528-82D6-17666250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개발자 도구의 Network 응답을 보면</a:t>
            </a:r>
          </a:p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정답을 확인할 수 있었습니다.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1640A-A089-4E02-ABA3-A04C7CC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14850" y="1933575"/>
            <a:ext cx="0" cy="3495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73638-D38F-4F06-8601-CAFF5103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335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변경 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9B8E7-9A20-407B-8EC3-92EDD698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2524125" cy="10287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5FD8C-DD7F-474F-A917-CDCEF13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76500"/>
            <a:ext cx="2219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문제 생성 응답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B7B6F-FE5E-428D-9CA4-502B626A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9875"/>
            <a:ext cx="2219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quizId, 문제, 선택지, 출처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정답과 해설은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D36BE-8040-4022-B798-62BE6D82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2952750" cy="10287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E15C7-E72F-4302-ABA0-CCB98178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647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답안 제출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B8428-6FB7-40EA-99AF-5D6CC77E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9875"/>
            <a:ext cx="2647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quizId, 문항 순서, 선택 답안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DA6A4-27AE-4B05-9C48-F2501DEA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2076450" cy="923925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6A376-E919-4EE5-9081-8D257296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71950"/>
            <a:ext cx="1771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서버 채점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3A505-A888-4162-BCCE-BB7130CC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05325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DB의 정답과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71288-0C5B-42FE-8954-B0250BB9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038600"/>
            <a:ext cx="2076450" cy="923925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10084-FA90-44AD-A7C6-9F3972AF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71950"/>
            <a:ext cx="1771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풀이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4D8A3-B9FF-4680-A16C-DE5B78FC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05325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attempt와 문항별 답안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B6A49-CA8A-4B58-9EFE-5A5F8D03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38600"/>
            <a:ext cx="1371600" cy="923925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3F8DC-53D9-4AA1-B76F-2FA95811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71950"/>
            <a:ext cx="106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오답 예약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193AD-2D66-4710-8A01-C11BD6EB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505325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다음 날 PENDING</a:t>
            </a:r>
          </a:p>
        </p:txBody>
      </p: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534275" y="285750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6048375" y="3371850"/>
            <a:ext cx="382905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86600" y="4500563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572625" y="4500563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48A822-DE1F-4216-8235-81B0FD10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15302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@Transactional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87914-EFA8-4B8F-83CB-C8982558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1F136-6D98-494F-BF97-B6765B2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채점, 풀이 저장과 오답 복습 예약을 한 DB 트랜잭션으로 처리합니다. 중간에 실패하면 함께 롤백합니다.</a:t>
            </a:r>
          </a:p>
        </p:txBody>
      </p:sp>
    </p:spTree>
    <p:extLst>
      <p:ext uri="{BB962C8B-B14F-4D97-AF65-F5344CB8AC3E}">
        <p14:creationId xmlns:p14="http://schemas.microsoft.com/office/powerpoint/2010/main" val="4348132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EDC5E1-3318-42DA-BE50-14F86A6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같은 문제와 비슷한 문제를 나눠서 처리했습니다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ECEE3-2818-4559-A4B9-1CA8A009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비용이 거의 없는 해시 검사를 먼저 하고, 표현이 다른 경우에만 벡터 유사도를 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10F47-4F33-4250-BCDC-3862B860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69F4E-FD7A-47F6-9563-F6494892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831A0-E5FF-4F5F-AE34-7735300F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DEA53-657C-47F8-9952-903FAE48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정확히 같은 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170CF-71D5-45F6-9D99-0A3101CE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491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정규화 + SHA-256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A3E51-4741-4248-8B41-4CED0D0B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95575"/>
            <a:ext cx="4914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공백과 대소문자를 정리한 뒤 해시를 비교합니다.</a:t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C++는 cplusplus, C#은 csharp로 바꿔 기술명 충돌을 피했습니다.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3C418-C9C8-4928-A1B4-9B1FEEBB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43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표현이 다른 비슷한 문제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1E79C-03D2-4122-ABFB-0F3A85AB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24100"/>
            <a:ext cx="5343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512차원 임베딩 + 코사인 유사도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03E01-0E4C-4932-802A-380EFE5B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95575"/>
            <a:ext cx="5343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문장을 숫자 벡터로 바꾸고 pgvector에서 가까운 문제를 찾습니다.</a:t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일반 중복 기준은 0.90, 반복 피드백 문항은 0.82입니다.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12280-2B18-42DE-911D-AA32AD37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38671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6D958-4D61-41BF-9FC9-05E79294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182880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58C77-7A52-4622-AE56-7B55FEAE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후보 문제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33812-7BF7-4336-A617-085B6E6D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AI가 만든 한 문항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9FE21-DEFF-4C7A-9634-8C8AEE6A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182880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D3FDD-61AA-4C4C-AFEA-C246CF3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4672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해시 비교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0F556-3833-4A49-8E2A-81D89802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006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같으면 제외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36DA8-EA93-4FF4-86EA-3A76BA03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182880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E19AC-FAF8-41D1-B338-437863DB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672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벡터 검색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72FB6-A367-4707-8296-A21B6AC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006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유사도 기준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BBE15-B79B-43D6-BC62-FD569F41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33875"/>
            <a:ext cx="182880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DAA21-9A1F-4781-9EA4-A6C6CA25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672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채택 및 저장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49535-DFE3-4E93-A767-AAFF780E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006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이력과 임베딩 저장</a:t>
            </a:r>
          </a:p>
        </p:txBody>
      </p:sp>
      <p:cxnSp>
        <p:nvCxnSpPr>
          <p:cNvPr id="56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381250" y="47720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829175" y="47720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277100" y="47720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C3763C-3364-4DED-80FA-3245235F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576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임베딩 장애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D81B8-D870-4E01-ADEE-EF33D86B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434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해시 검사로 계속 진행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의미 중복은 놓칠 수 있음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CD3D49-FC0D-498D-8C02-DA189765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A40415-70C8-4C4F-8682-040B84B3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HNSW 인덱스는 가까운 벡터 후보를 찾는 데 사용합니다. 42쌍 기준 데이터셋과 사람 검토로 임계값을 평가하며, 대규모 성능은 아직 측정하지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144698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2EAF9-9921-47C3-B68D-6B7520EA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pgvector는 실제 PostgreSQL에서 검증했습니다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3C975-052D-4098-A8FE-31B687C1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H2가 흉내 낼 수 없는 확장 타입과 거리 연산을 일회용 DB에서 실행합니다.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5BFFC-1BEB-4C63-BA3A-5819AF6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6FFC3-F44F-4397-A36D-9189E1D5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C2222-BF17-48A8-857E-9E1019E8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14620-1303-441D-9C24-FCCC85C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866900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4CEDA-8768-4D1E-8242-9CA89F96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5975"/>
            <a:ext cx="1562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Gradle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5EB3E-DF25-4CE8-8C33-CC28AEE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단위·통합 테스트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535F0-DE3D-4432-BB9C-6192D731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1866900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9B70C-98DE-47E2-9B39-E33999BB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85975"/>
            <a:ext cx="1562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3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Testcontainers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25740-60F7-495D-BD13-5C2AF65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pgvector 이미지를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임의 포트에 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E0A2E-4ADA-4E53-A0D3-1116BB49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52625"/>
            <a:ext cx="1866900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90740-48CE-472B-BCF0-9BBE6433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85975"/>
            <a:ext cx="1562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1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Flyway V1–V19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FE1A5-67E2-4055-ABD7-2D09E14D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193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빈 DB에 현재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스키마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25E78-0740-44C8-AF6F-3298B1F6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1866900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CDB9D-5FB4-4E72-ABFC-CF93AE4E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1562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실제 SQL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FFCA9-0549-4598-BE4F-69CE07F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저장·코사인 검색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차원 제약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4817F-1D58-4349-8F70-6603F217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52625"/>
            <a:ext cx="1866900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8ED26-CD62-4627-A8F0-3A0ACA2B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85975"/>
            <a:ext cx="1562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자동 정리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DEF85-8F3D-481D-AF19-B058C198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193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테스트 종료 후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컨테이너 제거</a:t>
            </a:r>
          </a:p>
        </p:txBody>
      </p: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19350" y="24574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24400" y="24574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29450" y="24574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334500" y="24574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824F60-6EF4-4904-8105-20F09D0A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DB 계약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B750D-ADF2-407E-98A8-56D9E125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31813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vector 확장, vector(512), HNSW와</a:t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코사인 연산자 구성을 확인했습니다.</a:t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511차원 저장은 DB가 거부했습니다.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95AE17-89C1-4973-A8D4-B07B252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48075"/>
            <a:ext cx="3314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중복 판정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FFA08-B15B-4E3E-8779-D7D65B4A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9550"/>
            <a:ext cx="33147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가까운 벡터는 0.90에서 차단하고</a:t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직교 벡터는 통과시켰습니다.</a:t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피드백 기준 0.82도 별도로 확인했습니다.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3FF2C1-9926-4472-A58D-104633CD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48075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검증 경계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8B0AA1-AED9-4948-A709-1EC447FD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32004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고정 벡터를 써서 OpenAI 호출은 0회입니다.</a:t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임베딩 장애 시 해시 폴백은 서비스</a:t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단위 테스트로 책임을 분리했습니다.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0BC926-FA1D-4BFF-A82A-A657B9A9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311001-3A10-4223-A229-25F30F27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이 테스트는 DB 호환성과 애플리케이션 SQL을 증명합니다. 실제 한국어 임베딩 품질과 HNSW 대용량 성능은 별도 평가가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456007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397AB-5A1D-41FE-A7E6-05C9D9A0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보충 생성도 목표와 비용 상한 안에서 처리했습니다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B4475-A46D-495C-A7A6-ACC07A66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중복으로 부족해진 문항만 보충하며, 로드맵에서는 남은 학습 목표 배정을 유지합니다.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8FC89-FA7B-4780-BF57-4D3F626E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D3738-DA51-4223-A6A7-54D27BC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A42CD-2AAA-4787-B5A0-8A0768DB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52A65-7977-4C4A-B3F8-25680985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247900" cy="1819275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89C1B-D71A-4AA7-9410-ACDE1E6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1차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82942-10A3-4656-940A-2439B54E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1866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32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63200-4BB8-471E-9593-3BCF8739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5개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7DAD3-C52E-4551-8EA2-FE503D25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19350"/>
            <a:ext cx="2247900" cy="1819275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99474-95D1-4668-AD1C-B01750D2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중복 검사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C054B-6A24-46DF-9996-7187CA22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19425"/>
            <a:ext cx="1866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32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17B17-ED55-486C-8086-A20714E1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242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2개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C41A3-DE08-42A1-B482-C52DCF29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247900" cy="1819275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CCF61-C93D-4809-99E3-0703F1B9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보충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5E549-71C3-4A9F-893C-76BE61EB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19425"/>
            <a:ext cx="1866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32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+4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365C0-A7C7-44CC-BE1B-2AD2B29D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242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부족한 2개의 두 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2AB51-C605-41E0-B353-7ADE768B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2247900" cy="1819275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65AE5-211F-4902-B845-0791198B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289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다시 검사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585FE-97BF-46BC-BFCC-AD5098AD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19425"/>
            <a:ext cx="1866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32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23EED-3CF1-444A-A8AA-81929592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242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필요한 만큼 채택</a:t>
            </a:r>
          </a:p>
        </p:txBody>
      </p: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00350" y="33289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19750" y="33289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39150" y="33289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F7BE3E-C6AC-4212-9F05-2CA4D6E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019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반복 횟수를 제한했습니다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96990-1BAC-4F18-BBE2-DD30DBB8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3975"/>
            <a:ext cx="50196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보충은 전체 3회까지만 진행합니다. 계속 중복되면 목표 개수보다 적은 문제를 반환할 수 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7F947-370D-45B3-9BA0-7F298D8A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62500"/>
            <a:ext cx="5343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목표 배정을 유지했습니다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B36AA-5005-4B18-A528-08171A20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133975"/>
            <a:ext cx="5343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목표 기반 로드맵은 통과한 문항의 objectiveKey를 빼고, 부족한 목표만 다시 요청합니다.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537953-E022-474E-8692-4E0986E4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E3ABB5-92A0-430F-9A1C-0BA396DB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보충은 최대 3회, 한 호출은 최대 20문제입니다. 첫 요청의 최근·피드백 문항 미리보기는 최대 30개로 제한하며 모델은 GPT-5.4 mini / low를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505381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BCCC76-8AC3-4E91-907F-C3089C88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필수 학습 목표가 문제의 출제 범위를 결정합니다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BEC02-04C4-4D75-A8E0-73A61B6E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주제명만 전달할 때 생기던 핵심 내용 누락을 목표별 커버리지로 줄였습니다.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02ABD-9A50-486B-A102-8FBB2BC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8929C-7FB4-448B-9BC4-1830AB69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B1FEB-F962-4017-BB22-AEB5669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1A4FC-432F-475B-B2E8-ABD18129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5475"/>
            <a:ext cx="4610100" cy="2628900"/>
          </a:xfrm>
          <a:prstGeom xmlns:a="http://schemas.openxmlformats.org/drawingml/2006/main" prst="roundRect">
            <a:avLst>
              <a:gd name="adj" fmla="val 25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5d53fb6f54d91"/>
          <a:stretch xmlns:a="http://schemas.openxmlformats.org/drawingml/2006/main"/>
        </p:blipFill>
        <p:spPr>
          <a:xfrm xmlns:a="http://schemas.openxmlformats.org/drawingml/2006/main">
            <a:off x="552450" y="1933982"/>
            <a:ext cx="4533900" cy="255188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7000C-E2B3-4AB8-B17F-6E7744D9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진행 중·완료 로드맵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9F593-D1D6-4100-BB27-C74B1F58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53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저장 전 미리보기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07F12-0559-48FE-A0C2-8397144E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24475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AI가 만든 단계와 목표, 순서와 문제 수를 수정합니다.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최종 저장은 모델을 다시 호출하지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2206B-4E00-438A-A482-21CE2A7D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245745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9F2FC-6439-4A0E-914E-11B03938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66925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1. 목표 정의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FE7D1-F43E-457D-8D9F-B2A36D25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152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목표별 1~5문제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CORE / SUPPORTING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0822B-C0F0-43D5-B3E2-A606BA5E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33575"/>
            <a:ext cx="245745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9481B-9696-4555-9C80-611E151F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66925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2. 남은 범위 계산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28981-C86A-4608-82DB-AEF9D764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152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이미 푼 문항을 빼고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남은 CORE부터 순환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1A6B8-7930-43F1-AD52-28862B81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45745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78FA2-C1D0-4E0A-B549-58DC7A8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95700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3. 이번 요청 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D9DEC-EBA9-4FEF-84C7-10C6C066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29075"/>
            <a:ext cx="2152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한 번에 최대 20문제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목표별 개수를 명시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15AF4-9FE0-4BC5-9D61-24FC5F6C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245745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D8D6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BCECB-BEE8-436C-ABE7-221C40DB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95700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4. 검증 후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675C6-0AC6-4150-A81F-F650931B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29075"/>
            <a:ext cx="2152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objectiveKey와 개수 확인</a:t>
            </a:r>
          </a:p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문항을 목표 FK로 연결</a:t>
            </a:r>
          </a:p>
        </p:txBody>
      </p:sp>
      <p:cxnSp>
        <p:nvCxnSpPr>
          <p:cNvPr id="5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172450" y="2428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6943725" y="2924175"/>
            <a:ext cx="3067050" cy="638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057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E68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91014-FBB8-4639-95DD-AA5764A6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8635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4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풀이 결과가 다음 배정의 커버리지로 다시 반영됩니다.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12532-7A72-41C1-886F-6DCCB4C6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6735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7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연결 자료가 있으면 로드맵과 문제 생성 모두 같은 자료를 사용합니다.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C0082E-6556-4B0D-9E9B-FDD867FA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57D4D7-EB34-45F2-AFE7-7A411855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학습 단위는 최대 30문제를 누적하고, 한 번에는 20문제까지만 만듭니다. 목표가 없는 v1.0/v1.1 로드맵은 기존 주제 방식으로 동작합니다.</a:t>
            </a:r>
          </a:p>
        </p:txBody>
      </p:sp>
    </p:spTree>
    <p:extLst>
      <p:ext uri="{BB962C8B-B14F-4D97-AF65-F5344CB8AC3E}">
        <p14:creationId xmlns:p14="http://schemas.microsoft.com/office/powerpoint/2010/main" val="19112200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1135B-3141-4B23-82D3-7096FCF5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오답이 다음 복습으로 이어지도록 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FCC0C-6C64-4598-964D-8733982E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한 번 생성한 문제를 다시 사용하므로 복습과 일정 계산에는 AI 비용이 들지 않습니다.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32DC4-84D7-4ABB-8BBA-9C6424E9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99C5E-BCD7-4813-99F1-FACF9784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DAF0E-C21E-48C7-AE2E-0726E880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C6355-97DA-4A25-8D38-39999E70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6286500" cy="3571875"/>
          </a:xfrm>
          <a:prstGeom xmlns:a="http://schemas.openxmlformats.org/drawingml/2006/main" prst="roundRect">
            <a:avLst>
              <a:gd name="adj" fmla="val 1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a23372d8d426b"/>
          <a:stretch xmlns:a="http://schemas.openxmlformats.org/drawingml/2006/main"/>
        </p:blipFill>
        <p:spPr>
          <a:xfrm xmlns:a="http://schemas.openxmlformats.org/drawingml/2006/main">
            <a:off x="552450" y="1924167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7810B-25EA-48EA-A68D-A7AAC95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621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실제 복습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A4C4B-5521-4A69-AE11-3A162B3E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62150"/>
            <a:ext cx="441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복습 대상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2E184-D352-4906-B774-E90A173F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3362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오답은 자동으로 넣습니다. 맞힌 문제도 필요하면 직접 복습에 추가할 수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47446-F88E-4E6A-941D-676CD422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86125"/>
            <a:ext cx="441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간격 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5C0B5-A3FB-4532-9D0D-038FE03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4419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연속으로 맞히면 3일, 7일, 14일, 30일 순서로 간격을 늘립니다. 5회 연속 정답이면 완료합니다.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411D3-2471-48D2-B7B4-C8C84C0A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441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중복 방지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3A7EC-18BE-47FF-A6B1-DAD8DDC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33975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같은 문제에는 PENDING 일정을 하나만 두고, 제출 UUID로 동일 요청의 재처리를 막습니다.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47077-E247-4F8C-B5D4-9C0A07E1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260B6-8A3E-47F8-BA83-5D7DFA3F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추천은 주제별 정답률과 마지막 학습일을 이용한 규칙 기반 방식입니다. 적은 데이터에서도 결과와 추천 이유를 확인할 수 있도록 AI를 사용하지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552315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11593-B63E-42F1-9FAA-876CDBF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AI 호출 원장은 PostgreSQL에 남겼습니다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8E45A-2B92-488C-98E0-8C66D38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서버 재시작과 수집 중단 뒤에도 요청별 사용량과 실패 기록이 남아야 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5A21D-4156-4DAB-892E-9FDC27C8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D0C02-B95D-46B0-8CAF-0CF3E9DA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9E432-9293-4976-8694-B17247C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0450A-0039-4B72-9D62-09A2DDAB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6457950" cy="3657600"/>
          </a:xfrm>
          <a:prstGeom xmlns:a="http://schemas.openxmlformats.org/drawingml/2006/main" prst="roundRect">
            <a:avLst>
              <a:gd name="adj" fmla="val 18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fb55f2bce40a8"/>
          <a:stretch xmlns:a="http://schemas.openxmlformats.org/drawingml/2006/main"/>
        </p:blipFill>
        <p:spPr>
          <a:xfrm xmlns:a="http://schemas.openxmlformats.org/drawingml/2006/main">
            <a:off x="561814" y="1924050"/>
            <a:ext cx="6363021" cy="3581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D3EA2-6250-449F-8BB4-F2FE7352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022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2026-09-13 로컬 DB의 최근 14일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B61CB-6FD3-4151-8804-2EDFFFA9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24050"/>
            <a:ext cx="424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요청별 원장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9342D-3ADF-4A47-B5F8-06C7385A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95525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operation, model, 성공 여부, 입력·출력·총 토큰과 지연시간을 ai_generation_log에 저장합니다.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8E4D0-B4FD-4F11-A48A-28DE9F2A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52800"/>
            <a:ext cx="424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학습 지표와 함께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411CE-2330-44C3-A7E4-EA975AE3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4248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같은 기간의 풀이·복습 정보와 AI 사용량을 나눠 보여줍니다. 금액 대신 토큰 원본을 표시합니다.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59B19-0476-4DAA-A968-61A5D748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43450"/>
            <a:ext cx="424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Trace는 선택 사항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BCD69-D5BF-46FD-A317-7E35E384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14925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Langfuse는 요청 내부 단계가 필요할 때만 켭니다. 키가 없어도 핵심 기능은 동작합니다.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40180-BA83-45BC-A072-EEA2DF98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68C31-999D-4A97-AB7E-00EBABC0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화면의 16회 호출과 18,099토큰은 로컬 사용 기록입니다. 부하 처리량이나 비용 절감 효과를 나타내는 수치는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939337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00C15-80F4-46E6-BA83-198C74DC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Prometheus로 비용과 문제 품질 신호를 분리했습니다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DBB6D-9A82-4ED7-92E1-944C60D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호출량보다 “한 번의 생성 안에서 어디서 비용과 품질이 나빠졌는가”를 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8CCE6-B190-47C2-87D3-0CC039A7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FDED7-85FF-43F2-9FF9-73FD9BD4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62413-1F36-41AF-A2CE-B5B877AE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2FFA9-FABB-47D8-B39D-297C26EE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6057900" cy="3438525"/>
          </a:xfrm>
          <a:prstGeom xmlns:a="http://schemas.openxmlformats.org/drawingml/2006/main" prst="roundRect">
            <a:avLst>
              <a:gd name="adj" fmla="val 19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e3d3eefce46d0"/>
          <a:stretch xmlns:a="http://schemas.openxmlformats.org/drawingml/2006/main"/>
        </p:blipFill>
        <p:spPr>
          <a:xfrm xmlns:a="http://schemas.openxmlformats.org/drawingml/2006/main">
            <a:off x="554567" y="1924050"/>
            <a:ext cx="5977467" cy="33623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F75CB-FC1F-4B37-804D-B46D2483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598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2026-09-14 로컬 Prometheus · up{job="auknowlog-backend"} 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FB0A9-9961-4477-BF5F-85BBFD81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관측하는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27E16-5BE7-403F-9829-A720E37D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95525"/>
            <a:ext cx="4591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AI 호출 시간·토큰, 전체 생성 시간, 생성 시도 수, 채택·정확 중복·의미 중복 문항 수를 분리했습니다.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53A4B-AC59-4CBB-A523-34136624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62325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label 경계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00EEB-A075-431C-84C7-474C8432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operation, model, 제한된 outcome만 사용합니다. topic, 문제 본문과 요청 ID는 넣지 않아 시계열 폭증과 내용 노출을 막았습니다.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F618B-D3A8-47C7-B2DD-6609CB3B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3870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재현 가능한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779FA-D89C-45DC-805D-CCCDE8B2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10175"/>
            <a:ext cx="4591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계약 테스트는 실제 export 문자열을 확인하고, 스크립트는 readiness와 scrape target의 UP 상태를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3280C-859A-46CC-8EFB-C7A79976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68A89-2C08-4650-B8CC-291C6793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Prometheus는 선택 실행이며 15초 pull·60일 보관입니다. 저사용량에서는 5분 비율 대신 7일 절대 건수를 먼저 보고, Grafana·알림은 아직 도입하지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691609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E7F9D3-23CC-4C98-971B-1C6954A3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학습 흐름에 맞춘 데이터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CCB1D-7DED-46E3-984E-3C1605B8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테이블을 기능 단위로 나누고, 복습과 중복 검사에 필요한 제약을 DB에 두었습니다.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DB94E-AE62-43EB-9414-7E722896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04493-27C3-40F7-A9A3-2A9FB94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E3F93-F8BC-4F8A-8ADB-81250BF6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C5A69-F981-4F33-9136-C47AB93D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학습 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99643-5E70-4E81-97F7-08ABBAB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240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source_document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9BDF2-6F98-425E-91F6-021C1818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source_chunk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8B1E2-16CB-44D6-B54C-2A5AE646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원문 해시로 중복을 확인하고 본문을 청크로 나눕니다.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DCED1-F4B2-4A34-B4BF-9B2AD60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2552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EA12A-0752-4445-A255-35C0D98F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로드맵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C79E0-4B5F-4F71-AED8-7E724145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learning_roadmap /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8E18D-B5F2-4F8C-8C1D-35FF3954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learning_objective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9D68B-EE14-4813-B800-D1F1593D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단계 순서와 CORE·SUPPORTING 목표별 문제 수를 저장합니다.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1F772-F0DD-47A2-AA0D-37E1EE62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33337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DF776-0E4E-4380-B18A-9B08369A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퀴즈 풀이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7D565-7CF9-4113-A247-D692206C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learning_quiz / 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AEC53-0BC5-4203-B4B1-9E2C12B4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learning_attempt / 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78504-D447-4482-BCF2-FDF67BA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문항을 학습 목표 FK로 연결하고 문항별 선택 답안을 남깁니다.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19BB0-E5E0-4088-B074-C575A9C7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41148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1B3AD-9E34-4846-BA89-A14B5DFB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복습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E12EA8-6F53-4B7D-B25A-1026614A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review_schedule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09EA8-4B72-435D-AD07-5361E828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review_attempt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23631-DE09-42B0-A8B8-730501EB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다음 복습일과 상태, 재풀이 결과와 변경 전후 간격을 기록합니다.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20935-37CD-4D85-8DE9-292F1E2B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4895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C08B2-785D-4698-A553-0B0488D3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AI 품질·데일리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1A7F49-EECE-46F9-938D-14224771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question_history / embedding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B86ED-D7E1-45CB-8254-E13792C6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482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2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quality·daily_learning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357A8E-4534-437D-AD47-A0C6E393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문제 해시·벡터·사람 판정과 날짜별 기사 학습을 분리해 관리합니다.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CBB64-263B-43D0-B3DE-E27C02D3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8914BA-BAC7-4398-9551-D0778F2D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V13은 학습 목표 FK, V14~V15는 품질 평가, V16~V18은 단계 결정·보기별 해설·데일리 학습, V19는 기사 선택 등급을 추가했습니다.</a:t>
            </a:r>
          </a:p>
        </p:txBody>
      </p:sp>
    </p:spTree>
    <p:extLst>
      <p:ext uri="{BB962C8B-B14F-4D97-AF65-F5344CB8AC3E}">
        <p14:creationId xmlns:p14="http://schemas.microsoft.com/office/powerpoint/2010/main" val="3515856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BCA2F-888A-49AD-9B8B-8737C118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기술 선택과 현재 적용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BD8F3-906C-4DBA-9621-505784DC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프로젝트 규모에 필요한 만큼 사용하고, 아직 필요하지 않은 기술은 넣지 않았습니다.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7706E-1C4B-4A7B-B695-A8C6E4CC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F874D-6913-496B-8BD2-18291302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E35A5-B9B4-447C-9555-9E11B4B1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600200"/>
          <a:ext xmlns:a="http://schemas.openxmlformats.org/drawingml/2006/main" cx="110871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33875"/>
                <a:gridCol w="4371975"/>
              </a:tblGrid>
              <a:tr h="4381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2Coding"/>
                          <a:ea typeface="D2Coding"/>
                          <a:cs typeface="D2Coding"/>
                        </a:rPr>
                        <a:t>선택</a:t>
                      </a:r>
                    </a:p>
                  </a:txBody>
                  <a:tcPr marL="91440" marR="91440" marT="45720" marB="45720" anchor="ctr">
                    <a:solidFill>
                      <a:srgbClr val="222222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2Coding"/>
                          <a:ea typeface="D2Coding"/>
                          <a:cs typeface="D2Coding"/>
                        </a:rPr>
                        <a:t>왜 선택했는가</a:t>
                      </a:r>
                    </a:p>
                  </a:txBody>
                  <a:tcPr marL="91440" marR="91440" marT="45720" marB="45720" anchor="ctr">
                    <a:solidFill>
                      <a:srgbClr val="222222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2Coding"/>
                          <a:ea typeface="D2Coding"/>
                          <a:cs typeface="D2Coding"/>
                        </a:rPr>
                        <a:t>현재 적용 범위</a:t>
                      </a:r>
                    </a:p>
                  </a:txBody>
                  <a:tcPr marL="91440" marR="91440" marT="45720" marB="45720" anchor="ctr">
                    <a:solidFill>
                      <a:srgbClr val="222222"/>
                    </a:solidFill>
                  </a:tcPr>
                </a:tc>
              </a:tr>
              <a:tr h="6477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Spring Boot / Java 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채점과 복습처럼 여러 저장 작업을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트랜잭션으로 묶어야 했습니다.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HTTP 계층과 유스케이스를 분리하고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서버 검증을 서비스에 모았습니다.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PostgreSQL + pgvector</a:t>
                      </a:r>
                    </a:p>
                  </a:txBody>
                  <a:tcPr marL="91440" marR="91440" marT="45720" marB="45720" anchor="ctr">
                    <a:solidFill>
                      <a:srgbClr val="EFEEE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관계 데이터와 벡터를 한 DB에서 관리해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Elasticsearch 이중 운영을 줄였습니다.</a:t>
                      </a:r>
                    </a:p>
                  </a:txBody>
                  <a:tcPr marL="91440" marR="91440" marT="45720" marB="45720" anchor="ctr">
                    <a:solidFill>
                      <a:srgbClr val="EFEEE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JPA는 학습 데이터에, JdbcTemplate은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벡터 거리 SQL에 사용합니다.</a:t>
                      </a:r>
                    </a:p>
                  </a:txBody>
                  <a:tcPr marL="91440" marR="91440" marT="45720" marB="45720" anchor="ctr">
                    <a:solidFill>
                      <a:srgbClr val="EFEEE9"/>
                    </a:solidFill>
                  </a:tcPr>
                </a:tc>
              </a:tr>
              <a:tr h="6477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Flyway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자동 DDL 대신 검토 가능한 SQL과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재현 가능한 스키마가 필요했습니다.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V1-V19 마이그레이션을 적용하고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Hibernate는 스키마를 검증합니다.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Testcontainers</a:t>
                      </a:r>
                    </a:p>
                  </a:txBody>
                  <a:tcPr marL="91440" marR="91440" marT="45720" marB="45720" anchor="ctr">
                    <a:solidFill>
                      <a:srgbClr val="EFEEE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H2에서는 vector 타입과 HNSW,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코사인 거리 연산을 검증할 수 없습니다.</a:t>
                      </a:r>
                    </a:p>
                  </a:txBody>
                  <a:tcPr marL="91440" marR="91440" marT="45720" marB="45720" anchor="ctr">
                    <a:solidFill>
                      <a:srgbClr val="EFEEE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실제 pgvector DB 테스트에서 스키마와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유사 벡터 검색을 확인합니다.</a:t>
                      </a:r>
                    </a:p>
                  </a:txBody>
                  <a:tcPr marL="91440" marR="91440" marT="45720" marB="45720" anchor="ctr">
                    <a:solidFill>
                      <a:srgbClr val="EFEEE9"/>
                    </a:solidFill>
                  </a:tcPr>
                </a:tc>
              </a:tr>
              <a:tr h="6477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Vitest / Playwright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빌드만으로는 제출 상태와 화면 전환,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모바일 회귀를 확인할 수 없습니다.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고정 fixture로 Chromium E2E를 실행하고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Node 22 CI에서 실패 trace를 보관합니다.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Docker Compose</a:t>
                      </a:r>
                    </a:p>
                  </a:txBody>
                  <a:tcPr marL="91440" marR="91440" marT="45720" marB="45720" anchor="ctr">
                    <a:solidFill>
                      <a:srgbClr val="EFEEE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개인 로컬 사용에 Kubernetes 운영 비용은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기능보다 컸습니다.</a:t>
                      </a:r>
                    </a:p>
                  </a:txBody>
                  <a:tcPr marL="91440" marR="91440" marT="45720" marB="45720" anchor="ctr">
                    <a:solidFill>
                      <a:srgbClr val="EFEEE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PostgreSQL과 선택형 Prometheus만</a:t>
                      </a:r>
                    </a:p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D2Coding"/>
                          <a:ea typeface="D2Coding"/>
                          <a:cs typeface="D2Coding"/>
                        </a:rPr>
                        <a:t>컨테이너로 실행합니다.</a:t>
                      </a:r>
                    </a:p>
                  </a:txBody>
                  <a:tcPr marL="91440" marR="91440" marT="45720" marB="45720" anchor="ctr">
                    <a:solidFill>
                      <a:srgbClr val="EFEE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23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778F0-ADF6-42BA-9AA7-552A28FD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검증 근거와 다음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80CE1-E9F3-4AC8-852E-6A70979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확인한 사실과 아직 측정하지 않은 부분을 구분해 두었습니다.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36988-257E-4CD9-9D3A-183DFB75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48ABB-0575-4CDA-B506-FD0DBCFD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Auknowlog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3B1F4-FD37-48B4-9A9C-8CAC4FED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975" b="1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9DFB3-CED3-41C2-A856-C8B0003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2026-09-28 로컬 검증 경로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9A96F-34E7-4AE3-A4B0-F660F8AC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232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서버·브라우저를 분리해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5CD78-661C-4A27-8F26-D1E3EC51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Spring 통합 테스트는 정답 비공개, 서버 채점, 풀이 저장과 복습 예약을 확인합니다.</a:t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333333"/>
                </a:solidFill>
                <a:latin typeface="D2Coding"/>
                <a:ea typeface="D2Coding"/>
                <a:cs typeface="D2Coding"/>
              </a:rPr>
              <a:t>Testcontainers는 Flyway V1–V19, vector(512), HNSW와 코사인 검색을 실제 DB에서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8ED8E-3338-4759-8519-64BC30B0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575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브라우저에서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B5F8E-2120-4CED-8426-3F01B184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Vitest는 제출 상태를, Playwright Chromium은 생성·제출·데일리 완료와 360px 화면을 고정 fixture로 확인합니다.</a:t>
            </a:r>
          </a:p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CI는 OpenAI, RSS와 개인 DB를 호출하지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1D3C2-92F8-4725-AC96-EBCF36F8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3600" y="192405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6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13027-18EB-4347-8AB0-E600DE18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2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B94A32"/>
                </a:solidFill>
                <a:latin typeface="D2Coding"/>
                <a:ea typeface="D2Coding"/>
                <a:cs typeface="D2Coding"/>
              </a:rPr>
              <a:t>다음에 검증할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AFDFC-BBD7-4081-8819-8A131D43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6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문단 단위 근거 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89846-ADE4-4E01-B85C-12F039F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57475"/>
            <a:ext cx="5200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기사·학습 자료의 어느 문단을 근거로 해설과 문제를 만들었는지 표시합니다.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605E7-8C34-42B1-98D5-B20A5264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90875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6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사용자 인증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01833-A84C-4B3A-BEE3-B305FC54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5200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여러 사용자를 위한 데이터 소유권과 접근 권한을 설계합니다.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8C889-B64D-4F4E-BC83-0D8DF6E4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6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전체 컨테이너화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ADDBC-7DBD-438D-8C7C-7159AB8F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91025"/>
            <a:ext cx="5200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백엔드·프론트엔드 이미지와 새 환경의 한 명령 기동을 검증합니다.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88929-F871-45FC-BC9E-F491145B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24425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  <a:latin typeface="D2Coding"/>
                <a:ea typeface="D2Coding"/>
                <a:cs typeface="D2Coding"/>
              </a:defRPr>
            </a:pPr>
            <a:r>
              <a:rPr sz="1650" b="1">
                <a:solidFill>
                  <a:srgbClr val="181818"/>
                </a:solidFill>
                <a:latin typeface="D2Coding"/>
                <a:ea typeface="D2Coding"/>
                <a:cs typeface="D2Coding"/>
              </a:rPr>
              <a:t>제한적 클라우드 배포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780A3-1C64-46A3-AA0F-B5C8FB99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5200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425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비용 알림을 먼저 둔 Terraform plan과 ECS 배포·시크릿 주입을 검토합니다.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363AE-CE33-446D-A3C9-F283EC13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584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5BA1B-6D96-4A35-BFD4-A7C21CD5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E68"/>
                </a:solidFill>
                <a:latin typeface="D2Coding"/>
                <a:ea typeface="D2Coding"/>
                <a:cs typeface="D2Coding"/>
              </a:defRPr>
            </a:pPr>
            <a:r>
              <a:rPr sz="1200" b="0">
                <a:solidFill>
                  <a:srgbClr val="6F6E68"/>
                </a:solidFill>
                <a:latin typeface="D2Coding"/>
                <a:ea typeface="D2Coding"/>
                <a:cs typeface="D2Coding"/>
              </a:rPr>
              <a:t>핵심 사례는 학습 목표 기반 출제 통제, pgvector 중복 판정, Prometheus 관측과 비용 없는 브라우저 회귀 검증입니다. 각 선택의 적용 범위와 검증 경계를 함께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1282436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2026-09-28T04:40:47.8250000Z</dcterms:created>
  <dcterms:modified xsi:type="dcterms:W3CDTF">2026-09-28T04:40:47.8250000Z</dcterms:modified>
</coreProperties>
</file>